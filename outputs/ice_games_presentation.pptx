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Years Active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032-4980-9B1F-4616D9AF60B9}"/>
              </c:ext>
            </c:extLst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32-4980-9B1F-4616D9AF60B9}"/>
              </c:ext>
            </c:extLst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032-4980-9B1F-4616D9AF60B9}"/>
              </c:ext>
            </c:extLst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032-4980-9B1F-4616D9AF60B9}"/>
              </c:ext>
            </c:extLst>
          </c:dPt>
          <c:dPt>
            <c:idx val="4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032-4980-9B1F-4616D9AF60B9}"/>
              </c:ext>
            </c:extLst>
          </c:dPt>
          <c:dPt>
            <c:idx val="5"/>
            <c:invertIfNegative val="0"/>
            <c:bubble3D val="0"/>
            <c:spPr>
              <a:solidFill>
                <a:srgbClr val="E8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032-4980-9B1F-4616D9AF60B9}"/>
              </c:ext>
            </c:extLst>
          </c:dPt>
          <c:dPt>
            <c:idx val="6"/>
            <c:invertIfNegative val="0"/>
            <c:bubble3D val="0"/>
            <c:spPr>
              <a:solidFill>
                <a:srgbClr val="E8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032-4980-9B1F-4616D9AF60B9}"/>
              </c:ext>
            </c:extLst>
          </c:dPt>
          <c:dPt>
            <c:idx val="7"/>
            <c:invertIfNegative val="0"/>
            <c:bubble3D val="0"/>
            <c:spPr>
              <a:solidFill>
                <a:srgbClr val="A7BE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032-4980-9B1F-4616D9AF60B9}"/>
              </c:ext>
            </c:extLst>
          </c:dPt>
          <c:dPt>
            <c:idx val="8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032-4980-9B1F-4616D9AF60B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PS2</c:v>
                </c:pt>
                <c:pt idx="1">
                  <c:v>X360</c:v>
                </c:pt>
                <c:pt idx="2">
                  <c:v>PS3</c:v>
                </c:pt>
                <c:pt idx="3">
                  <c:v>Wii</c:v>
                </c:pt>
                <c:pt idx="4">
                  <c:v>DS</c:v>
                </c:pt>
                <c:pt idx="5">
                  <c:v>PS4</c:v>
                </c:pt>
                <c:pt idx="6">
                  <c:v>XOne</c:v>
                </c:pt>
                <c:pt idx="7">
                  <c:v>WiiU</c:v>
                </c:pt>
                <c:pt idx="8">
                  <c:v>3DS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</c:v>
                </c:pt>
                <c:pt idx="1">
                  <c:v>11</c:v>
                </c:pt>
                <c:pt idx="2">
                  <c:v>10</c:v>
                </c:pt>
                <c:pt idx="3">
                  <c:v>10</c:v>
                </c:pt>
                <c:pt idx="4">
                  <c:v>9</c:v>
                </c:pt>
                <c:pt idx="5">
                  <c:v>4</c:v>
                </c:pt>
                <c:pt idx="6">
                  <c:v>4</c:v>
                </c:pt>
                <c:pt idx="7">
                  <c:v>5</c:v>
                </c:pt>
                <c:pt idx="8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5032-4980-9B1F-4616D9AF60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"/>
        </c:scaling>
        <c:delete val="0"/>
        <c:axPos val="b"/>
        <c:majorGridlines>
          <c:spPr>
            <a:ln w="12700" cap="flat">
              <a:solidFill>
                <a:srgbClr val="2A35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</c:v>
                </c:pt>
              </c:strCache>
            </c:strRef>
          </c:tx>
          <c:spPr>
            <a:solidFill>
              <a:srgbClr val="E8B84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028-4036-B78D-A4F6B21560FA}"/>
              </c:ext>
            </c:extLst>
          </c:dPt>
          <c:dPt>
            <c:idx val="1"/>
            <c:invertIfNegative val="0"/>
            <c:bubble3D val="0"/>
            <c:spPr>
              <a:solidFill>
                <a:srgbClr val="8A9B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28-4036-B78D-A4F6B21560FA}"/>
              </c:ext>
            </c:extLst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28-4036-B78D-A4F6B21560F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critic_score × total_sales</c:v>
                </c:pt>
                <c:pt idx="1">
                  <c:v>user_score × total_sales</c:v>
                </c:pt>
                <c:pt idx="2">
                  <c:v>critic × user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0.27</c:v>
                </c:pt>
                <c:pt idx="1">
                  <c:v>-0.04</c:v>
                </c:pt>
                <c:pt idx="2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028-4036-B78D-A4F6B21560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-0.1"/>
        </c:scaling>
        <c:delete val="0"/>
        <c:axPos val="b"/>
        <c:majorGridlines>
          <c:spPr>
            <a:ln w="12700" cap="flat">
              <a:solidFill>
                <a:srgbClr val="2A35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user_score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91C-4459-A089-EB21F0432EDB}"/>
              </c:ext>
            </c:extLst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91C-4459-A089-EB21F0432EDB}"/>
              </c:ext>
            </c:extLst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6,66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91C-4459-A089-EB21F0432ED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PS4</c:v>
                </c:pt>
                <c:pt idx="1">
                  <c:v>XOne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6.94</c:v>
                </c:pt>
                <c:pt idx="1">
                  <c:v>6.66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1C-4459-A089-EB21F0432E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.5"/>
          <c:min val="6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user_score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321-4B66-9E45-6E6D5BE0F469}"/>
              </c:ext>
            </c:extLst>
          </c:dPt>
          <c:dPt>
            <c:idx val="1"/>
            <c:invertIfNegative val="0"/>
            <c:bubble3D val="0"/>
            <c:spPr>
              <a:solidFill>
                <a:srgbClr val="E8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321-4B66-9E45-6E6D5BE0F46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6,83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321-4B66-9E45-6E6D5BE0F46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7,51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321-4B66-9E45-6E6D5BE0F46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Action</c:v>
                </c:pt>
                <c:pt idx="1">
                  <c:v>Role-Playing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6.83</c:v>
                </c:pt>
                <c:pt idx="1">
                  <c:v>7.51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321-4B66-9E45-6E6D5BE0F4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.1999999999999993"/>
          <c:min val="6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596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4114800" cy="41148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3474720"/>
            <a:ext cx="2743200" cy="2743200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371600" cy="2560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DATA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 Gaming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 &amp; Market Analysis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industry trends · Platform lifecycle · Regional segmentation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· Business recommendations for 2017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502920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F"/>
                </a:solidFill>
              </a:rPr>
              <a:t>Brian Rodrigues  ·  github.com/rodriguesbrian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Objective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" y="13075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307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3716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Business Context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ICE is an online video game retailer operating globally.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The dataset covers sales records from 1980 to 2016 across 31 platforms.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Reference point: 2016.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703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Goal: identify patterns to plan an effective 2017 campaign.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5394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656832" y="1307592"/>
            <a:ext cx="585216" cy="585216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56832" y="1307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60920" y="13716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General vision of Dataset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1874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E2761"/>
                </a:solidFill>
              </a:rPr>
              <a:t>16,715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0" y="19202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2377440"/>
            <a:ext cx="5029200" cy="1828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25328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E2761"/>
                </a:solidFill>
              </a:rPr>
              <a:t>11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0" y="257860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3035808"/>
            <a:ext cx="5029200" cy="1828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319125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E2761"/>
                </a:solidFill>
              </a:rPr>
              <a:t>31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12480" y="3236976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3694176"/>
            <a:ext cx="5029200" cy="1828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5080" y="38496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E2761"/>
                </a:solidFill>
              </a:rPr>
              <a:t>12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12480" y="389534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4352544"/>
            <a:ext cx="5029200" cy="1828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45079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E2761"/>
                </a:solidFill>
              </a:rPr>
              <a:t>1980–2016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412480" y="45537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covered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pipeline from raw data to business recommendation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66160" cy="2103120"/>
          </a:xfrm>
          <a:prstGeom prst="rect">
            <a:avLst/>
          </a:prstGeom>
          <a:solidFill>
            <a:srgbClr val="111A3B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5819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581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standardisation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 (year → int,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user_score → float)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 entries → NaN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566160" cy="2103120"/>
          </a:xfrm>
          <a:prstGeom prst="rect">
            <a:avLst/>
          </a:prstGeom>
          <a:solidFill>
            <a:srgbClr val="111A3B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98848" y="15819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98848" y="1581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66360" y="16002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219456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2-level hierarchy: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1st: same title, other platform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2nd: same platform + genre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(median / mode)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566160" cy="2103120"/>
          </a:xfrm>
          <a:prstGeom prst="rect">
            <a:avLst/>
          </a:prstGeom>
          <a:solidFill>
            <a:srgbClr val="111A3B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39328" y="15819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39328" y="1581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06840" y="160020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5320" y="219456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 = NA + EU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JP + Other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filter: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active platforms (last_launch ≥ 2014)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titles 2012–2016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3566160" cy="2103120"/>
          </a:xfrm>
          <a:prstGeom prst="rect">
            <a:avLst/>
          </a:prstGeom>
          <a:solidFill>
            <a:srgbClr val="111A3B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" y="39136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393192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452628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lifecycle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profiling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 / EU / JP / Other)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vs. sales correlation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749040"/>
            <a:ext cx="3566160" cy="2103120"/>
          </a:xfrm>
          <a:prstGeom prst="rect">
            <a:avLst/>
          </a:prstGeom>
          <a:solidFill>
            <a:srgbClr val="111A3B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98848" y="39136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98848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166360" y="393192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34840" y="452628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 (α = 0.05)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PS4 vs. XOne user_score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vs. RPG user_score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749040"/>
            <a:ext cx="3566160" cy="2103120"/>
          </a:xfrm>
          <a:prstGeom prst="rect">
            <a:avLst/>
          </a:prstGeom>
          <a:solidFill>
            <a:srgbClr val="111A3B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39328" y="39136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39328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006840" y="393192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75320" y="452628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priority by region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strategy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campaign direction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</a:rPr>
              <a:t>16,715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</a:rPr>
              <a:t>Raw records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88920" y="100584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88920" y="11155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</a:rPr>
              <a:t>4,900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88920" y="1664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</a:rPr>
              <a:t>Duplicates removed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100584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11155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120640" y="1664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</a:rPr>
              <a:t>Name/Genre → unknown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52360" y="100584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52360" y="11155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</a:rPr>
              <a:t>10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452360" y="1664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</a:rPr>
              <a:t>Active platforms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</a:rPr>
              <a:t>(last_launch ≥ 2014)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784080" y="100584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784080" y="11155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</a:rPr>
              <a:t>2,855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784080" y="1664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</a:rPr>
              <a:t>Records after filter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A9BBF"/>
                </a:solidFill>
              </a:rPr>
              <a:t>(2012–2016)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5486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" y="25328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Imputation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2898648"/>
            <a:ext cx="5120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year_of_release, critic_score, user_score and rating all filled using the same 2-level logic: same title on other platforms first, then same platform + genre as fallback. Mode used for rating (categorical).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2423160"/>
            <a:ext cx="5486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73952" y="25328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Retaining Residual Nulls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73952" y="2898648"/>
            <a:ext cx="5120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~6.4% of records kept null in critic_score / user_score after imputation — no valid reference in dataset. Dropping them would bias the sample toward well-known titles only.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5486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" y="440740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user_score: tbd → NaN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" y="4773168"/>
            <a:ext cx="5120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 was object dtype due to 'tbd' strings. Converted via pd.to_numeric(errors='coerce') before any aggregation — avoids contaminating medians with non-numeric values.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4297680"/>
            <a:ext cx="5486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73952" y="440740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total_sales = 4 Regions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73952" y="4773168"/>
            <a:ext cx="5120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regional columns included (NA + EU + JP + Other). Other Regions represents ~8.9% of total revenue — non-trivial and deliberately excluded in some prior analyses.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Lifecycle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BF"/>
                </a:solidFill>
              </a:rPr>
              <a:t>Understanding generational cycles before selecting the analytical scope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65836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417320"/>
            <a:ext cx="4297680" cy="960120"/>
          </a:xfrm>
          <a:prstGeom prst="rect">
            <a:avLst/>
          </a:prstGeom>
          <a:solidFill>
            <a:srgbClr val="111A3B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562088" y="163677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62088" y="1636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0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</a:rPr>
              <a:t>~10 years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0" y="17830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Average console generation — consistent with industry history (PS2, X360, PS3, Wii)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06640" y="2532888"/>
            <a:ext cx="4297680" cy="960120"/>
          </a:xfrm>
          <a:prstGeom prst="rect">
            <a:avLst/>
          </a:prstGeom>
          <a:solidFill>
            <a:srgbClr val="111A3B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562088" y="275234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562088" y="2752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229600" y="25786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</a:rPr>
              <a:t>PS4 &amp; XOne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0" y="28986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Only 4 years of data (2013–2016) — still in growth phase entering 2017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406640" y="3648456"/>
            <a:ext cx="4297680" cy="960120"/>
          </a:xfrm>
          <a:prstGeom prst="rect">
            <a:avLst/>
          </a:prstGeom>
          <a:solidFill>
            <a:srgbClr val="111A3B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562088" y="386791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562088" y="3867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229600" y="36941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</a:rPr>
              <a:t>Filter applied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0" y="401421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Only platforms with releases recorded in 2014–2016 retained (10 of 31)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06640" y="4764024"/>
            <a:ext cx="4297680" cy="960120"/>
          </a:xfrm>
          <a:prstGeom prst="rect">
            <a:avLst/>
          </a:prstGeom>
          <a:solidFill>
            <a:srgbClr val="111A3B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562088" y="49834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562088" y="4983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229600" y="480974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</a:rPr>
              <a:t>2012–2016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229600" y="512978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Title window: 5 years of recent data to capture current market trends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Market Profiling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81328" y="1225296"/>
            <a:ext cx="694944" cy="69494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81328" y="12252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🌎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029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North America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2377440" cy="1828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9BBF"/>
                </a:solidFill>
              </a:rPr>
              <a:t>TOP PLATFORMS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X360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PS4 · PS3 · XOne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840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9BBF"/>
                </a:solidFill>
              </a:rPr>
              <a:t>TOP GENRES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4114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Action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Shooter · Sports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919472"/>
            <a:ext cx="2377440" cy="1828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5029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BBF"/>
                </a:solidFill>
              </a:rPr>
              <a:t>Largest market by revenue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100584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07408" y="1225296"/>
            <a:ext cx="694944" cy="69494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07408" y="12252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74720" y="2029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Europe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66160" y="2487168"/>
            <a:ext cx="2377440" cy="1828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20440" y="2606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9BBF"/>
                </a:solidFill>
              </a:rPr>
              <a:t>TOP PLATFORMS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0440" y="28803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PS4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PS3 · X360 · XOne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0440" y="3840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9BBF"/>
                </a:solidFill>
              </a:rPr>
              <a:t>TOP GENRES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20440" y="4114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Action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Shooter · Sports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66160" y="4919472"/>
            <a:ext cx="2377440" cy="1828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20440" y="5029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BBF"/>
                </a:solidFill>
              </a:rPr>
              <a:t>Convergent profile with NA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1005840"/>
            <a:ext cx="2743200" cy="5303520"/>
          </a:xfrm>
          <a:prstGeom prst="rect">
            <a:avLst/>
          </a:prstGeom>
          <a:solidFill>
            <a:srgbClr val="1E2761"/>
          </a:solidFill>
          <a:ln w="12700">
            <a:solidFill>
              <a:srgbClr val="E8B84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33488" y="1225296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33488" y="12252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00800" y="2029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B84B"/>
                </a:solidFill>
              </a:rPr>
              <a:t>Japan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92240" y="2487168"/>
            <a:ext cx="2377440" cy="18288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46520" y="2606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B84B"/>
                </a:solidFill>
              </a:rPr>
              <a:t>TOP PLATFORMS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46520" y="28803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3DS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PS3 · PSV · PS4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3840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B84B"/>
                </a:solidFill>
              </a:rPr>
              <a:t>TOP GENRES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46520" y="4114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Role-Playing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Action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92240" y="4919472"/>
            <a:ext cx="2377440" cy="18288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46520" y="5029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BBF"/>
                </a:solidFill>
              </a:rPr>
              <a:t>Distinct — portables dominant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235440" y="1005840"/>
            <a:ext cx="274320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259568" y="1225296"/>
            <a:ext cx="694944" cy="69494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259568" y="12252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326880" y="20299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Other Regions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418320" y="2487168"/>
            <a:ext cx="2377440" cy="1828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372600" y="2606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9BBF"/>
                </a:solidFill>
              </a:rPr>
              <a:t>TOP PLATFORMS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9372600" y="28803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PS4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PS3 · X360 · XOne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372600" y="3840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9BBF"/>
                </a:solidFill>
              </a:rPr>
              <a:t>TOP GENRES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372600" y="41148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Action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444444"/>
                </a:solidFill>
              </a:rPr>
              <a:t>Shooter · Sports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418320" y="4919472"/>
            <a:ext cx="2377440" cy="1828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372600" y="5029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BBF"/>
                </a:solidFill>
              </a:rPr>
              <a:t>~8.9% of global revenue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Scores &amp; Sales Correlation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943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766560" y="1188720"/>
            <a:ext cx="4937760" cy="1828800"/>
          </a:xfrm>
          <a:prstGeom prst="rect">
            <a:avLst/>
          </a:prstGeom>
          <a:solidFill>
            <a:srgbClr val="111A3B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949440" y="1280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</a:rPr>
              <a:t>critic_score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49440" y="1600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 = 0.27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949440" y="20116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BBF"/>
                </a:solidFill>
              </a:rPr>
              <a:t>Moderate positive correlation with sales. Titles with better critical reception tend to sell slightly more — but correlation may reflect shared cause, not direct influence.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766560" y="3246120"/>
            <a:ext cx="4937760" cy="1828800"/>
          </a:xfrm>
          <a:prstGeom prst="rect">
            <a:avLst/>
          </a:prstGeom>
          <a:solidFill>
            <a:srgbClr val="111A3B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949440" y="33375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9BBF"/>
                </a:solidFill>
              </a:rPr>
              <a:t>user_score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949440" y="3657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 = −0.04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949440" y="40690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9BBF"/>
                </a:solidFill>
              </a:rPr>
              <a:t>No meaningful correlation with sales. User ratings and commercial performance are independent dimensions in this dataset.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BBF"/>
                </a:solidFill>
              </a:rPr>
              <a:t>💡  user_score was selected for hypothesis testing because it reflects actual players — more directly linked to future purchase intent.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F"/>
                </a:solidFill>
              </a:rPr>
              <a:t>Welch's t-test  ·  equal_var=False  ·  α = 0.05  ·  Applied on 2012–2016 active-platform dataset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778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371600" cy="2560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TEST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PS4 vs. XOne — User Score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</a:rPr>
              <a:t>H₀: Mean user_score PS4 = Mean user_score XOne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</a:rPr>
              <a:t>H₁: Means are different</a:t>
            </a:r>
            <a:endParaRPr lang="en-US" sz="11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765536982"/>
              </p:ext>
            </p:extLst>
          </p:nvPr>
        </p:nvGraphicFramePr>
        <p:xfrm>
          <a:off x="548640" y="2880360"/>
          <a:ext cx="53035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892040"/>
            <a:ext cx="530352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491947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</a:rPr>
              <a:t>p = 0.008  →  H₀ REJECTED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52578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PS4 receives significantly higher user scores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1234440"/>
            <a:ext cx="55778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92240" y="1371600"/>
            <a:ext cx="1371600" cy="2560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92240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TEST 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92240" y="1691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Action vs. Role-Playing — User Score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214884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</a:rPr>
              <a:t>H₀: Mean user_score Action = Mean user_score RPG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</a:rPr>
              <a:t>H₁: Means are different</a:t>
            </a:r>
            <a:endParaRPr lang="en-US" sz="1150" dirty="0"/>
          </a:p>
        </p:txBody>
      </p:sp>
      <p:graphicFrame>
        <p:nvGraphicFramePr>
          <p:cNvPr id="18" name="Chart 1"/>
          <p:cNvGraphicFramePr/>
          <p:nvPr>
            <p:extLst>
              <p:ext uri="{D42A27DB-BD31-4B8C-83A1-F6EECF244321}">
                <p14:modId xmlns:p14="http://schemas.microsoft.com/office/powerpoint/2010/main" val="2672166984"/>
              </p:ext>
            </p:extLst>
          </p:nvPr>
        </p:nvGraphicFramePr>
        <p:xfrm>
          <a:off x="6400800" y="2880360"/>
          <a:ext cx="53035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Shape 15"/>
          <p:cNvSpPr/>
          <p:nvPr/>
        </p:nvSpPr>
        <p:spPr>
          <a:xfrm>
            <a:off x="6400800" y="4892040"/>
            <a:ext cx="530352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446520" y="491947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</a:rPr>
              <a:t>p &lt; 0.001  →  H₀ REJECTED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446520" y="52578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RPG receives significantly higher user scores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 — 2017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0" cy="1600200"/>
          </a:xfrm>
          <a:prstGeom prst="rect">
            <a:avLst/>
          </a:prstGeom>
          <a:solidFill>
            <a:srgbClr val="111A3B"/>
          </a:solidFill>
          <a:ln w="12700">
            <a:solidFill>
              <a:srgbClr val="2A3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1600200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Primary platform: PS4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572768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Leads in EU, Other and 2nd in NA. Consistent growth across all regions since 2013. Highest user satisfaction among current-gen consoles (6.94 vs. 6.66 XOne, p=0.008).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5486400" cy="1600200"/>
          </a:xfrm>
          <a:prstGeom prst="rect">
            <a:avLst/>
          </a:prstGeom>
          <a:solidFill>
            <a:srgbClr val="111A3B"/>
          </a:solidFill>
          <a:ln w="12700">
            <a:solidFill>
              <a:srgbClr val="2A3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502920" cy="1600200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09360" y="109728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11887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🕹  Secondary platform: XOne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03720" y="1572768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Converges with PS4 in genre profile. Relevant in NA and EU. Prioritise alongside PS4 for Shooter and Sports titles in Western markets.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486400" cy="1600200"/>
          </a:xfrm>
          <a:prstGeom prst="rect">
            <a:avLst/>
          </a:prstGeom>
          <a:solidFill>
            <a:srgbClr val="111A3B"/>
          </a:solidFill>
          <a:ln w="12700">
            <a:solidFill>
              <a:srgbClr val="2A3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502920" cy="160020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9718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Japan: separate strategy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355848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3DS leads with a wide margin. RPG is the dominant genre. Market has a distinct profile from NA/EU — requires its own platform, genre and communication strategy.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2880360"/>
            <a:ext cx="5486400" cy="1600200"/>
          </a:xfrm>
          <a:prstGeom prst="rect">
            <a:avLst/>
          </a:prstGeom>
          <a:solidFill>
            <a:srgbClr val="111A3B"/>
          </a:solidFill>
          <a:ln w="12700">
            <a:solidFill>
              <a:srgbClr val="2A3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9360" y="2880360"/>
            <a:ext cx="502920" cy="160020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288036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29718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Genre focus by market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3355848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NA · EU · Other: Action, Shooter, Sports — unified content strategy applicable across three regions. Japan: Role-Playing — higher user satisfaction (7.51 vs 6.83, p &lt; 0.001).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5486400" cy="1600200"/>
          </a:xfrm>
          <a:prstGeom prst="rect">
            <a:avLst/>
          </a:prstGeom>
          <a:solidFill>
            <a:srgbClr val="111A3B"/>
          </a:solidFill>
          <a:ln w="12700">
            <a:solidFill>
              <a:srgbClr val="2A3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502920" cy="1600200"/>
          </a:xfrm>
          <a:prstGeom prst="rect">
            <a:avLst/>
          </a:prstGeom>
          <a:solidFill>
            <a:srgbClr val="8A9B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47548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Use critic score as a signal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5138928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Moderate correlation with sales (r = 0.27). Titles with higher critical reception show a slight sales advantage — use as secondary filter in title selection, not primary.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4663440"/>
            <a:ext cx="5486400" cy="1600200"/>
          </a:xfrm>
          <a:prstGeom prst="rect">
            <a:avLst/>
          </a:prstGeom>
          <a:solidFill>
            <a:srgbClr val="111A3B"/>
          </a:solidFill>
          <a:ln w="12700">
            <a:solidFill>
              <a:srgbClr val="2A35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09360" y="4663440"/>
            <a:ext cx="502920" cy="1600200"/>
          </a:xfrm>
          <a:prstGeom prst="rect">
            <a:avLst/>
          </a:prstGeom>
          <a:solidFill>
            <a:srgbClr val="8A9B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9360" y="4663440"/>
            <a:ext cx="502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47548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Wind down legacy platforms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3720" y="5138928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PS3 and X360 in consistent decline across all regions in 2014–2016. May sustain residual volume in 2017, but do not justify primary investment or dedicated campaign allocation.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114800"/>
            <a:ext cx="4572000" cy="45720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ICE Gaming — Sales Dashboard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468880"/>
            <a:ext cx="2423160" cy="1143000"/>
          </a:xfrm>
          <a:prstGeom prst="rect">
            <a:avLst/>
          </a:prstGeom>
          <a:solidFill>
            <a:srgbClr val="111A3B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57860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B84B"/>
                </a:solidFill>
              </a:rPr>
              <a:t>$8,915 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31272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Total global revenue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(1980–2016)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2468880"/>
            <a:ext cx="2423160" cy="1143000"/>
          </a:xfrm>
          <a:prstGeom prst="rect">
            <a:avLst/>
          </a:prstGeom>
          <a:solidFill>
            <a:srgbClr val="111A3B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11880" y="257860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B84B"/>
                </a:solidFill>
              </a:rPr>
              <a:t>11,560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11880" y="31272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Unique titles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in dataset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2468880"/>
            <a:ext cx="2423160" cy="1143000"/>
          </a:xfrm>
          <a:prstGeom prst="rect">
            <a:avLst/>
          </a:prstGeom>
          <a:solidFill>
            <a:srgbClr val="111A3B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257860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B84B"/>
                </a:solidFill>
              </a:rPr>
              <a:t>PS4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09360" y="31272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Recommended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primary platform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06840" y="2468880"/>
            <a:ext cx="2423160" cy="1143000"/>
          </a:xfrm>
          <a:prstGeom prst="rect">
            <a:avLst/>
          </a:prstGeom>
          <a:solidFill>
            <a:srgbClr val="111A3B"/>
          </a:solidFill>
          <a:ln w="12700">
            <a:solidFill>
              <a:srgbClr val="1E2761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06840" y="257860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B84B"/>
                </a:solidFill>
              </a:rPr>
              <a:t>Action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006840" y="31272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Leading genre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</a:rPr>
              <a:t>NA · EU · Other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840480"/>
            <a:ext cx="10332720" cy="27432"/>
          </a:xfrm>
          <a:prstGeom prst="rect">
            <a:avLst/>
          </a:prstGeom>
          <a:solidFill>
            <a:srgbClr val="E8B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0233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BBF"/>
                </a:solidFill>
              </a:rPr>
              <a:t>Tableau dashboard · Jupyter notebook · GitHub: rodriguesbrian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5262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linkedin.com/in/rodrigues-brian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A80"/>
                </a:solidFill>
              </a:rPr>
              <a:t>Stack: Python · Pandas · NumPy · SciPy · Matplotlib · Seaborn · Tableau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1103</Words>
  <Application>Microsoft Office PowerPoint</Application>
  <PresentationFormat>Widescreen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Rodrigues</cp:lastModifiedBy>
  <cp:revision>2</cp:revision>
  <dcterms:created xsi:type="dcterms:W3CDTF">2026-08-01T16:51:13Z</dcterms:created>
  <dcterms:modified xsi:type="dcterms:W3CDTF">2026-08-01T19:57:21Z</dcterms:modified>
</cp:coreProperties>
</file>